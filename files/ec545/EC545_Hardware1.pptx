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79646"/>
    <a:srgbClr val="E6E3D2"/>
    <a:srgbClr val="00B050"/>
    <a:srgbClr val="010DFF"/>
    <a:srgbClr val="604A7B"/>
    <a:srgbClr val="DECF9C"/>
    <a:srgbClr val="98B954"/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96" autoAdjust="0"/>
    <p:restoredTop sz="95501" autoAdjust="0"/>
  </p:normalViewPr>
  <p:slideViewPr>
    <p:cSldViewPr snapToGrid="0">
      <p:cViewPr varScale="1">
        <p:scale>
          <a:sx n="111" d="100"/>
          <a:sy n="111" d="100"/>
        </p:scale>
        <p:origin x="2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63F09C27-1C92-4E4F-BED1-BAB45A60C71D}" type="datetimeFigureOut">
              <a:rPr lang="en-US"/>
              <a:pPr>
                <a:defRPr/>
              </a:pPr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4DB89172-25C8-4EF5-8213-4D8F974C66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969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419399E4-1376-4790-B163-3D6AC495250E}" type="datetimeFigureOut">
              <a:rPr lang="en-US"/>
              <a:pPr>
                <a:defRPr/>
              </a:pPr>
              <a:t>10/23/26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7B1F242-85D8-4D51-ADC3-A1E90483FB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942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Three parts: the project area (slides 2 to 13), two ideas on top of LEAD (14 and 15), next steps (16). Backup slides hold details for questions.</a:t>
            </a:r>
          </a:p>
        </p:txBody>
      </p:sp>
    </p:spTree>
    <p:extLst>
      <p:ext uri="{BB962C8B-B14F-4D97-AF65-F5344CB8AC3E}">
        <p14:creationId xmlns:p14="http://schemas.microsoft.com/office/powerpoint/2010/main" val="1724859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Motivation slide. Point at the photo: lidar on top, Jetson in the middle deck, battery and motors underneath, depth camera at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class: what goes wrong if the Jetson counted encoder pulses itself? (It would miss pulses whenever Linux schedules something else.)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616701"/>
            <a:ext cx="12192000" cy="26987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27F58-0904-4B07-9968-EB5301EE7A06}" type="slidenum">
              <a:rPr lang="en-US" smtClean="0"/>
              <a:pPr>
                <a:defRPr/>
              </a:pPr>
              <a:t>‹#›</a:t>
            </a:fld>
            <a:r>
              <a:rPr lang="en-US" dirty="0"/>
              <a:t> / 17</a:t>
            </a:r>
          </a:p>
        </p:txBody>
      </p:sp>
    </p:spTree>
    <p:extLst>
      <p:ext uri="{BB962C8B-B14F-4D97-AF65-F5344CB8AC3E}">
        <p14:creationId xmlns:p14="http://schemas.microsoft.com/office/powerpoint/2010/main" val="80279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616701"/>
            <a:ext cx="12192000" cy="26987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endParaRPr lang="en-US" sz="1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Calibri" pitchFamily="34" charset="0"/>
              <a:buChar char="»"/>
              <a:defRPr/>
            </a:lvl1pPr>
            <a:lvl2pPr marL="742950" indent="-285750">
              <a:buFont typeface="Calibri" pitchFamily="34" charset="0"/>
              <a:buChar char="»"/>
              <a:defRPr/>
            </a:lvl2pPr>
            <a:lvl3pPr marL="1143000" indent="-228600">
              <a:buFont typeface="Calibri" pitchFamily="34" charset="0"/>
              <a:buChar char="»"/>
              <a:defRPr/>
            </a:lvl3pPr>
            <a:lvl4pPr marL="1600200" indent="-228600">
              <a:buFont typeface="Calibri" pitchFamily="34" charset="0"/>
              <a:buChar char="»"/>
              <a:defRPr/>
            </a:lvl4pPr>
            <a:lvl5pPr marL="2057400" indent="-228600">
              <a:buFont typeface="Calibri" pitchFamily="34" charset="0"/>
              <a:buChar char="»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701" y="6600826"/>
            <a:ext cx="2631017" cy="257175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600826"/>
            <a:ext cx="2743200" cy="25717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‹#›</a:t>
            </a:fld>
            <a:r>
              <a:rPr lang="en-US" dirty="0"/>
              <a:t> / 17</a:t>
            </a:r>
          </a:p>
        </p:txBody>
      </p:sp>
    </p:spTree>
    <p:extLst>
      <p:ext uri="{BB962C8B-B14F-4D97-AF65-F5344CB8AC3E}">
        <p14:creationId xmlns:p14="http://schemas.microsoft.com/office/powerpoint/2010/main" val="197834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143001"/>
            <a:ext cx="109728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6701"/>
            <a:ext cx="12192000" cy="26987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600826"/>
            <a:ext cx="2743200" cy="365125"/>
          </a:xfrm>
          <a:prstGeom prst="rect">
            <a:avLst/>
          </a:prstGeom>
        </p:spPr>
        <p:txBody>
          <a:bodyPr/>
          <a:lstStyle>
            <a:lvl1pPr eaLnBrk="1" hangingPunct="1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01" y="6600826"/>
            <a:ext cx="2631017" cy="365125"/>
          </a:xfrm>
          <a:prstGeom prst="rect">
            <a:avLst/>
          </a:prstGeom>
        </p:spPr>
        <p:txBody>
          <a:bodyPr/>
          <a:lstStyle>
            <a:lvl1pPr eaLnBrk="1" hangingPunct="1">
              <a:defRPr sz="10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600826"/>
            <a:ext cx="2743200" cy="365125"/>
          </a:xfrm>
          <a:prstGeom prst="rect">
            <a:avLst/>
          </a:prstGeom>
        </p:spPr>
        <p:txBody>
          <a:bodyPr/>
          <a:lstStyle>
            <a:lvl1pPr algn="r" eaLnBrk="1" hangingPunct="1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3B8FFB8-5303-4533-A500-B7E2D8364629}" type="slidenum">
              <a:rPr lang="en-US" smtClean="0"/>
              <a:pPr>
                <a:defRPr/>
              </a:pPr>
              <a:t>‹#›</a:t>
            </a:fld>
            <a:r>
              <a:rPr lang="en-US" dirty="0"/>
              <a:t> / 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Calibri" panose="020F050202020403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Calibri" panose="020F050202020403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Calibri" panose="020F050202020403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 bwMode="auto">
          <a:xfrm>
            <a:off x="1523999" y="3015078"/>
            <a:ext cx="9144000" cy="314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fontScale="62500" lnSpcReduction="20000"/>
          </a:bodyPr>
          <a:lstStyle/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n-US" sz="4000" b="1" dirty="0">
              <a:cs typeface="Arial" charset="0"/>
            </a:endParaRP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4000" b="1" dirty="0">
                <a:cs typeface="Arial" charset="0"/>
              </a:rPr>
              <a:t>Nguyen Khoi Nguyen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n-US" sz="2000" b="1" dirty="0">
              <a:cs typeface="Arial" charset="0"/>
            </a:endParaRP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n-US" sz="2000" b="1" dirty="0">
              <a:cs typeface="Arial" charset="0"/>
            </a:endParaRP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u="none" dirty="0">
                <a:solidFill>
                  <a:srgbClr val="00B0F0"/>
                </a:solidFill>
                <a:latin typeface="Arial" charset="0"/>
                <a:cs typeface="Arial" charset="0"/>
              </a:rPr>
              <a:t>Hardware Lecture</a:t>
            </a:r>
            <a:endParaRPr lang="en-US" sz="2800" dirty="0">
              <a:latin typeface="Arial" charset="0"/>
              <a:cs typeface="Arial" charset="0"/>
            </a:endParaRP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i="1" dirty="0">
                <a:solidFill>
                  <a:srgbClr val="00B0F0"/>
                </a:solidFill>
                <a:latin typeface="Arial" charset="0"/>
                <a:cs typeface="Arial" charset="0"/>
              </a:rPr>
              <a:t>The robot platform you will use for your projects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B0F0"/>
                </a:solidFill>
                <a:latin typeface="Arial" charset="0"/>
                <a:cs typeface="Arial" charset="0"/>
              </a:rPr>
              <a:t>EC545 Cyber-Physical Systems, Fall 2026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n-US" sz="2800" dirty="0"/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dirty="0"/>
              <a:t>Department of Physics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dirty="0"/>
              <a:t>Department of Computer Science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dirty="0">
                <a:cs typeface="Arial" charset="0"/>
              </a:rPr>
              <a:t>Boston University</a:t>
            </a:r>
          </a:p>
        </p:txBody>
      </p:sp>
      <p:sp>
        <p:nvSpPr>
          <p:cNvPr id="6148" name="Title 1"/>
          <p:cNvSpPr>
            <a:spLocks noGrp="1"/>
          </p:cNvSpPr>
          <p:nvPr>
            <p:ph type="ctrTitle"/>
          </p:nvPr>
        </p:nvSpPr>
        <p:spPr>
          <a:xfrm>
            <a:off x="1483334" y="1397415"/>
            <a:ext cx="9225329" cy="1617663"/>
          </a:xfrm>
        </p:spPr>
        <p:txBody>
          <a:bodyPr/>
          <a:lstStyle/>
          <a:p>
            <a:r>
              <a:rPr lang="en-US" sz="4000" dirty="0"/>
              <a:t>Inside the ROSMASTER X3: Boards, Wiring and Basic Control</a:t>
            </a:r>
            <a:endParaRPr lang="en-US" altLang="en-US" sz="4000" dirty="0"/>
          </a:p>
        </p:txBody>
      </p:sp>
      <p:pic>
        <p:nvPicPr>
          <p:cNvPr id="6149" name="Picture 2" descr="https://upload.wikimedia.org/wikipedia/commons/thumb/b/b1/Boston_University_Wordmark.svg/2000px-Boston_University_Wordmark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5851" y="5491163"/>
            <a:ext cx="1958975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4" descr="http://www.bu.edu/photonics/files/2011/02/BUPC-Logo-white1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4" y="5573713"/>
            <a:ext cx="25336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ROSMASTER X3?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2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9728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A small car with the parts of a real autonomous robot: a computer, a microcontroller, sensors and omnidirectional wheels.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A </a:t>
            </a:r>
            <a:r>
              <a:rPr sz="1500" b="1"/>
              <a:t>four-wheel mecanum car</a:t>
            </a:r>
            <a:r>
              <a:rPr sz="1500"/>
              <a:t> by Yahboom: drives forward, sideways and spins, with no steering.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 b="1"/>
              <a:t>Jetson Nano 4GB</a:t>
            </a:r>
            <a:r>
              <a:rPr sz="1500"/>
              <a:t>: runs Linux and ROS. Your code runs here.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 b="1"/>
              <a:t>ROS robot expansion board</a:t>
            </a:r>
            <a:r>
              <a:rPr sz="1500"/>
              <a:t> (STM32): drives the motors, reads the encoders and IMU, runs the buzzer and lights.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Sensors: </a:t>
            </a:r>
            <a:r>
              <a:rPr sz="1500" b="1"/>
              <a:t>lidar</a:t>
            </a:r>
            <a:r>
              <a:rPr sz="1500"/>
              <a:t>, </a:t>
            </a:r>
            <a:r>
              <a:rPr sz="1500" b="1"/>
              <a:t>Astra Pro depth camera</a:t>
            </a:r>
            <a:r>
              <a:rPr sz="1500"/>
              <a:t>, 9-axis </a:t>
            </a:r>
            <a:r>
              <a:rPr sz="1500" b="1"/>
              <a:t>IMU</a:t>
            </a:r>
            <a:r>
              <a:rPr sz="1500"/>
              <a:t>, four </a:t>
            </a:r>
            <a:r>
              <a:rPr sz="1500" b="1"/>
              <a:t>wheel encoders</a:t>
            </a:r>
            <a:r>
              <a:rPr sz="1500"/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FF0000"/>
                </a:solidFill>
              </a:rPr>
              <a:t>Many parts are optional. Check which lidar and camera your car has.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00B050"/>
                </a:solidFill>
              </a:rPr>
              <a:t>Goal: trace a command from your code to a turning wheel.</a:t>
            </a:r>
          </a:p>
        </p:txBody>
      </p:sp>
      <p:pic>
        <p:nvPicPr>
          <p:cNvPr id="7" name="Picture 6" descr="x3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54517"/>
            <a:ext cx="4212164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5303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ROSMASTER X3 with lidar, depth camera and mecanum wheels.</a:t>
            </a:r>
          </a:p>
          <a:p>
            <a:pPr>
              <a:spcAft>
                <a:spcPts val="0"/>
              </a:spcAft>
            </a:pPr>
            <a:r>
              <a:rPr sz="1000" b="1"/>
              <a:t>Source: Yahboom, ROSMASTER X1/X3 manual,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3</a:t>
            </a:fld>
            <a:r>
              <a:rPr lang="en-US" dirty="0"/>
              <a:t> / 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097280"/>
          <a:ext cx="10972800" cy="449884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Plain meaning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Main controller (host)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Jetson Nano. Linux computer for ROS, vision and planning. Not real-time.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MCU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STM32 microcontroller on the expansion board. Runs one firmware loop with exact timing.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Expansion board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Yahboom board carrying the MCU, motor drivers, IMU and power converters.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PWM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Pulse-width modulation: fast on/off switching; the duty cycle sets the average voltage.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H-bridge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Four switches around a motor; set current direction and strength.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Encoder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Shaft sensor that pulses as the wheel turns. Pulses give speed and distance.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IMU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Accelerometer, gyroscope, magnetometer. Measures tilt, rotation rate and heading.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Odometry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Position estimated by integrating wheel motion (plus IMU).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ROS node / topic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A node is a program. Nodes exchange messages on named topics.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cmd_vel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Standard ROS velocity command: vx, vy, wz.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300" b="1"/>
                        <a:t>UART / serial, I2C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Wired links. Serial (over USB) carries host–MCU packets; I2C drives small chips like the OLED.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The Yahboom tutorials use the same 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overview: two processors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4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The Jetson decides where to go. The MCU makes the wheels follow within milliseconds.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Linux can pause your program for tens of milliseconds. Motor control and encoder counting cannot wait, so they run on the MCU.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3291840" cy="2377440"/>
          </a:xfrm>
          <a:prstGeom prst="roundRect">
            <a:avLst>
              <a:gd name="adj" fmla="val 12000"/>
            </a:avLst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7030A0"/>
                </a:solidFill>
              </a:rPr>
              <a:t>Jetson Nano 4GB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Ubuntu + ROS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Your code: perception,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mapping, planning, teleop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Publishes /cmd_vel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51460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00B050"/>
                </a:solidFill>
              </a:rPr>
              <a:t>Expansion board (STM32)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Parses serial packets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PID speed loop per wheel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Reads encoders + IMU</a:t>
            </a:r>
          </a:p>
          <a:p>
            <a:pPr algn="ctr"/>
            <a:r>
              <a:rPr sz="1300">
                <a:solidFill>
                  <a:srgbClr val="000000"/>
                </a:solidFill>
              </a:rPr>
              <a:t>Buzzer, RGB, servos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237744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Motor drivers → 4 motors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324612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4 encoders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411480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9-axis IMU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3337560"/>
            <a:ext cx="1371600" cy="0"/>
          </a:xfrm>
          <a:prstGeom prst="line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9080" y="2962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/>
              <a:t>commands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114800" y="4069080"/>
            <a:ext cx="1371600" cy="0"/>
          </a:xfrm>
          <a:prstGeom prst="line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86200" y="41696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/>
              <a:t>speed, IMU, battery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4930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/>
              <a:t>USB serial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2724912"/>
            <a:ext cx="109728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595360" y="3593592"/>
            <a:ext cx="109728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595360" y="4462272"/>
            <a:ext cx="109728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5166360"/>
            <a:ext cx="3291840" cy="594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Lidar, depth camera, handle receiver (USB)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468880" y="4892040"/>
            <a:ext cx="0" cy="274320"/>
          </a:xfrm>
          <a:prstGeom prst="line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89120" y="5138928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B050"/>
                </a:solidFill>
              </a:rPr>
              <a:t>Rule of thumb: </a:t>
            </a:r>
            <a:r>
              <a:rPr sz="1400"/>
              <a:t>millisecond timing goes on the MCU; heavy computation goes on the Jetson.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Wiring diagram (Jetson Nano 4GB version)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5</a:t>
            </a:fld>
            <a:r>
              <a:rPr lang="en-US" dirty="0"/>
              <a:t> / 27</a:t>
            </a:r>
          </a:p>
        </p:txBody>
      </p:sp>
      <p:pic>
        <p:nvPicPr>
          <p:cNvPr id="6" name="Picture 5" descr="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69" y="1005840"/>
            <a:ext cx="552958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0972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7030A0"/>
                </a:solidFill>
              </a:rPr>
              <a:t>Three groups: expansion-board devices, USB-hub devices, and devices on the Jetson.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00B050"/>
                </a:solidFill>
              </a:rPr>
              <a:t>Green: </a:t>
            </a:r>
            <a:r>
              <a:rPr sz="1400"/>
              <a:t>four motors and the RGB strip → expansion board. Inset: M1 rear right, M2 front right, M3 rear left, M4 front left.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7030A0"/>
                </a:solidFill>
              </a:rPr>
              <a:t>Purple: </a:t>
            </a:r>
            <a:r>
              <a:rPr sz="1400"/>
              <a:t>USB data. Expansion board and voice module → USB hub → Jetson.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00B0F0"/>
                </a:solidFill>
              </a:rPr>
              <a:t>Blue: </a:t>
            </a:r>
            <a:r>
              <a:rPr sz="1400"/>
              <a:t>depth camera and lidar → USB hub.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FF0000"/>
                </a:solidFill>
              </a:rPr>
              <a:t>Red: </a:t>
            </a:r>
            <a:r>
              <a:rPr sz="1400"/>
              <a:t>OLED (I2C, 40-pin header), U disk, handle receiver, 7-inch screen → Jetson.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FF0000"/>
                </a:solidFill>
              </a:rPr>
              <a:t>Swapped motor plugs make the car drive the wrong way. Check M1–M4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1447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/>
              <a:t>Source: Yahboom, ROSMASTER X1/X3 manual, "Wiring diagram for Jetson NANO 4GB version"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distribution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6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One battery, one switch. The expansion board powers the whole robot.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0000"/>
                </a:solidFill>
              </a:rPr>
              <a:t>Li-ion battery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12.6 V, 6000 mAh (about 1.5 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20240"/>
            <a:ext cx="3108960" cy="137160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0B050"/>
                </a:solidFill>
              </a:rPr>
              <a:t>Expansion board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T-plug 12 V in → power switch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Buck converters (the two yellow coils)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606040"/>
            <a:ext cx="640080" cy="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1783080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Motors (12 V, via drivers)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487168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Jetson Nano (DC 5 V out)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191256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USB HUB board (12 V out)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783080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Servos (5 V or 6.8 V jumper)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487168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Lidar, camera (5 V via hub)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3191256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MCU, IMU (3.3 V)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492240" y="2066543"/>
            <a:ext cx="822960" cy="539497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2240" y="2606040"/>
            <a:ext cx="822960" cy="164592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2606040"/>
            <a:ext cx="822960" cy="868680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418320" y="2770632"/>
            <a:ext cx="228600" cy="704088"/>
          </a:xfrm>
          <a:prstGeom prst="line">
            <a:avLst/>
          </a:prstGeom>
          <a:ln w="1587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3977639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The expansion board’s DC 5 V output powers the Jetson through its barrel jack.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The USB hub takes its own 12 V, so the lidar and camera do not load the Jetson’s USB ports.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FF0000"/>
                </a:solidFill>
              </a:rPr>
              <a:t>Below 9.6 V the buzzer beeps and the MCU light flashes: switch off and charge. Never drive while charging.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FF0000"/>
                </a:solidFill>
              </a:rPr>
              <a:t>Storage: 11.1–11.7 V, battery out of the car, away from metal and heat.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/>
              <a:t>Source: Yahboom, ROSMASTER X1/X3 manual, FAQ 4 and "Lithium-ion battery safety specification"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Expansion board: front side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7</a:t>
            </a:fld>
            <a:r>
              <a:rPr lang="en-US" dirty="0"/>
              <a:t> / 27</a:t>
            </a:r>
          </a:p>
        </p:txBody>
      </p:sp>
      <p:pic>
        <p:nvPicPr>
          <p:cNvPr id="6" name="Picture 5" descr="exp_numb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8859"/>
            <a:ext cx="5669280" cy="3485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617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Numbers match the table.</a:t>
            </a:r>
          </a:p>
          <a:p>
            <a:pPr>
              <a:spcAft>
                <a:spcPts val="0"/>
              </a:spcAft>
            </a:pPr>
            <a:r>
              <a:rPr sz="1000" b="1"/>
              <a:t>Source: Yahboom, ROSMASTER X1/X3 manual, "Expansion board functional layout"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051560"/>
          <a:ext cx="5303518" cy="421995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695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9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8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Interface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it is for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1, 10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T-type DC 12 V in, switch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Battery input and the main power switch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2, 9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DC 12 V out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12 V for external devices (e.g. USB hub)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6, 5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DC 5 V out, Type-C 5 V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5 V to the Jetson; Type-C is power only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4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Micro USB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Data link to the Jetson (serial over USB)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7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I2C header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External I2C devices, e.g. an OLED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11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KEY1, RESET, BOOT0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User button, MCU reset, firmware flashing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12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9-axis attitude sensor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IMU: accel + gyro + magnetometer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13, 15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CAN, SBUS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CAN bus devices; RC aircraft receiver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14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RGB light bar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The LED strip at the rear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16, 17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PWM servo + voltage jumper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4 servos at 5 V or 6.8 V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18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Serial servo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Bus servos of a robotic arm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100" b="1"/>
                        <a:t>19, 20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Buzzer, 4 motor ports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Alarm; motors with encoders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" y="5257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B050"/>
                </a:solidFill>
              </a:rPr>
              <a:t>Only port 4 carries data to the Jetson. The rest is power or MCU peripherals.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Expansion board: the MCU (back side)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8</a:t>
            </a:fld>
            <a:r>
              <a:rPr lang="en-US" dirty="0"/>
              <a:t> / 27</a:t>
            </a:r>
          </a:p>
        </p:txBody>
      </p:sp>
      <p:pic>
        <p:nvPicPr>
          <p:cNvPr id="6" name="Picture 5" descr="exp_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03287"/>
            <a:ext cx="4937760" cy="3279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4434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(1) the on-board MCU; (2) the SWD debugging pads (SWDIO, SWCLK).</a:t>
            </a:r>
          </a:p>
          <a:p>
            <a:pPr>
              <a:spcAft>
                <a:spcPts val="0"/>
              </a:spcAft>
            </a:pPr>
            <a:r>
              <a:rPr sz="1000" b="1"/>
              <a:t>Source: Yahboom, ROSMASTER X1/X3 manual, expansion board, back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09728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The MCU is a dedicated co-processor running one loop forever, so its timing is predictable.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Chip: </a:t>
            </a:r>
            <a:r>
              <a:rPr sz="1500" b="1"/>
              <a:t>STM32F103RCT6 (ARM Cortex-M3, 72 MHz)</a:t>
            </a:r>
            <a:r>
              <a:rPr sz="1500"/>
              <a:t>, linked to the Jetson by a USB-to-serial converter.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Controls: motors and encoders, PWM and serial servos, buzzer, RGB strip, IMU, KEY1, SBUS, CAN.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Firmware is preflashed. To reflash: hold </a:t>
            </a:r>
            <a:r>
              <a:rPr sz="1500" b="1"/>
              <a:t>BOOT0</a:t>
            </a:r>
            <a:r>
              <a:rPr sz="1500"/>
              <a:t>, press </a:t>
            </a:r>
            <a:r>
              <a:rPr sz="1500" b="1"/>
              <a:t>RESET</a:t>
            </a:r>
            <a:r>
              <a:rPr sz="1500"/>
              <a:t>, download over USB; or use ST-Link / J-Link on the SWD pads.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FF0000"/>
                </a:solidFill>
              </a:rPr>
              <a:t>Do not reflash unless a tutorial says so. Wrong firmware breaks every ROS node.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00B050"/>
                </a:solidFill>
              </a:rPr>
              <a:t>You normally do not program the MCU. You command it from the Jetson.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8978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/>
              <a:t>Source: Yahboom, ROSMASTER X1/X3 manual, FAQ 5 and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USB hub board and voice module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9</a:t>
            </a:fld>
            <a:r>
              <a:rPr lang="en-US" dirty="0"/>
              <a:t> / 27</a:t>
            </a:r>
          </a:p>
        </p:txBody>
      </p:sp>
      <p:pic>
        <p:nvPicPr>
          <p:cNvPr id="6" name="Picture 5" descr="usb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4029"/>
            <a:ext cx="5120640" cy="29925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69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USB hub: one input from the Jetson, several outputs, its own 12 V input and switch.</a:t>
            </a:r>
          </a:p>
          <a:p>
            <a:pPr>
              <a:spcAft>
                <a:spcPts val="0"/>
              </a:spcAft>
            </a:pPr>
            <a:r>
              <a:rPr sz="1000" b="1"/>
              <a:t>Source: Yahboom, ROSMASTER X1/X3 manual, "Expansion board interface description"</a:t>
            </a:r>
          </a:p>
        </p:txBody>
      </p:sp>
      <p:pic>
        <p:nvPicPr>
          <p:cNvPr id="8" name="Picture 7" descr="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303520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374903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Optional voice module: two microphones, speaker port, serial link via the hub.</a:t>
            </a:r>
          </a:p>
          <a:p>
            <a:pPr>
              <a:spcAft>
                <a:spcPts val="0"/>
              </a:spcAft>
            </a:pPr>
            <a:r>
              <a:rPr sz="1000" b="1"/>
              <a:t>Source: Yahboom, ROSMASTER X1/X3 manual, same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983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The Jetson has four USB ports; the car needs more (expansion board, lidar, camera, voice module, handle receiver, U disk).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The hub is </a:t>
            </a:r>
            <a:r>
              <a:rPr sz="1400" b="1"/>
              <a:t>self-powered</a:t>
            </a:r>
            <a:r>
              <a:rPr sz="1400"/>
              <a:t> from 12 V, so the lidar motor does not brown out the Jetson.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FF0000"/>
                </a:solidFill>
              </a:rPr>
              <a:t>A USB device keeps dropping? Check the hub power cable and switch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controller: Jetson Nano 4GB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10</a:t>
            </a:fld>
            <a:r>
              <a:rPr lang="en-US" dirty="0"/>
              <a:t> / 27</a:t>
            </a:r>
          </a:p>
        </p:txBody>
      </p:sp>
      <p:pic>
        <p:nvPicPr>
          <p:cNvPr id="6" name="Picture 5" descr="nano_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0583"/>
            <a:ext cx="5394960" cy="41881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03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Port assignments on the car.</a:t>
            </a:r>
          </a:p>
          <a:p>
            <a:pPr>
              <a:spcAft>
                <a:spcPts val="0"/>
              </a:spcAft>
            </a:pPr>
            <a:r>
              <a:rPr sz="1000" b="1"/>
              <a:t>Source: Yahboom, ROSMASTER X1/X3 manual, "JETSON NANO 4GB board interface description"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051560"/>
          <a:ext cx="5394960" cy="25603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Spec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Jetson Nano 4GB developer kit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CPU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Quad-core ARM Cortex-A57, 1.43 GHz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GPU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128-core NVIDIA Maxwell (CUDA)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Memory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4 GB LPDDR4, shared by CPU and GPU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Power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5 V barrel jack, 5 W or 10 W mode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I/O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4× USB 3.0, Ethernet, HDMI, 40-pin header, 2× CSI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OS on the car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Ubuntu 18.04, ROS 1 Melodic + ROS 2 Foxy (Docker)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379476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Login: </a:t>
            </a:r>
            <a:r>
              <a:rPr sz="1400" b="1">
                <a:latin typeface="Courier New"/>
              </a:rPr>
              <a:t>jetson</a:t>
            </a:r>
            <a:r>
              <a:rPr sz="1400"/>
              <a:t> / </a:t>
            </a:r>
            <a:r>
              <a:rPr sz="1400" b="1">
                <a:latin typeface="Courier New"/>
              </a:rPr>
              <a:t>yahboom</a:t>
            </a:r>
            <a:r>
              <a:rPr sz="1400"/>
              <a:t>. Boots from the supplied U disk.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The GPU runs small neural networks (detection, segmentation) on camera frames in real time.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FF0000"/>
                </a:solidFill>
              </a:rPr>
              <a:t>CPU and GPU share 4 GB. RViz + SLAM + a neural network will run out of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8978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/>
              <a:t>Source: NVIDIA, Jetson Nano Developer Kit specifications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11</a:t>
            </a:fld>
            <a:r>
              <a:rPr lang="en-US" dirty="0"/>
              <a:t> / 27</a:t>
            </a:r>
          </a:p>
        </p:txBody>
      </p:sp>
      <p:pic>
        <p:nvPicPr>
          <p:cNvPr id="6" name="Picture 5" descr="rplid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143000"/>
            <a:ext cx="201168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61488" y="10972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/>
              <a:t>Lidar (RPLIDAR S1/S2 or A1)</a:t>
            </a:r>
          </a:p>
          <a:p>
            <a:pPr>
              <a:spcAft>
                <a:spcPts val="400"/>
              </a:spcAft>
            </a:pPr>
            <a:r>
              <a:rPr sz="1300"/>
              <a:t>360° spinning laser rangefinder. Topic /scan. Used for SLAM and obstacle avoidance.</a:t>
            </a:r>
          </a:p>
        </p:txBody>
      </p:sp>
      <p:pic>
        <p:nvPicPr>
          <p:cNvPr id="8" name="Picture 7" descr="astra_p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93159"/>
            <a:ext cx="2011680" cy="13113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0972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/>
              <a:t>Depth camera (Orbbec Astra Pro)</a:t>
            </a:r>
          </a:p>
          <a:p>
            <a:pPr>
              <a:spcAft>
                <a:spcPts val="400"/>
              </a:spcAft>
            </a:pPr>
            <a:r>
              <a:rPr sz="1300"/>
              <a:t>RGB camera plus infrared depth sensor: colour image and per-pixel distance.</a:t>
            </a:r>
          </a:p>
        </p:txBody>
      </p:sp>
      <p:pic>
        <p:nvPicPr>
          <p:cNvPr id="10" name="Picture 9" descr="im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611880"/>
            <a:ext cx="201168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61488" y="35661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/>
              <a:t>9-axis IMU (on the expansion board)</a:t>
            </a:r>
          </a:p>
          <a:p>
            <a:pPr>
              <a:spcAft>
                <a:spcPts val="400"/>
              </a:spcAft>
            </a:pPr>
            <a:r>
              <a:rPr sz="1300"/>
              <a:t>Accelerometer, gyroscope and magnetometer, read by the MCU. Gives rotation rate and tilt; corrects odometry when wheels slip.</a:t>
            </a:r>
          </a:p>
        </p:txBody>
      </p:sp>
      <p:pic>
        <p:nvPicPr>
          <p:cNvPr id="12" name="Picture 11" descr="encoder_moto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611880"/>
            <a:ext cx="201168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0" y="35661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/>
              <a:t>Wheel encoders (one per motor)</a:t>
            </a:r>
          </a:p>
          <a:p>
            <a:pPr>
              <a:spcAft>
                <a:spcPts val="400"/>
              </a:spcAft>
            </a:pPr>
            <a:r>
              <a:rPr sz="1300"/>
              <a:t>Hall-effect encoder on each motor, counted by the MCU. Gives wheel speed and odometry.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/>
              <a:t>Images: RPLIDAR range and 520 encoder motor, Yahboom store; Astra camera, Orbbec; 9DoF Razor IMU (MPU-9250), SparkFun, CC BY 2.0. The X3 board uses an MPU9250 (V1.0) or ICM20948 (V3.0).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Peripherals: OLED, LED strip, buzzer, gamepad, screen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12</a:t>
            </a:fld>
            <a:r>
              <a:rPr lang="en-US" dirty="0"/>
              <a:t> / 27</a:t>
            </a:r>
          </a:p>
        </p:txBody>
      </p:sp>
      <p:pic>
        <p:nvPicPr>
          <p:cNvPr id="6" name="Picture 5" descr="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4534"/>
            <a:ext cx="4480560" cy="38145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937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OLED on the Jetson 40-pin header: 3.3 V, pin 3 = SDA, pin 5 = SCL, GND.</a:t>
            </a:r>
          </a:p>
          <a:p>
            <a:pPr>
              <a:spcAft>
                <a:spcPts val="0"/>
              </a:spcAft>
            </a:pPr>
            <a:r>
              <a:rPr sz="1000" b="1"/>
              <a:t>Source: Yahboom, ROSMASTER X1/X3 manual, "OLED module wiring diagram"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097280"/>
            <a:ext cx="6309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7030A0"/>
                </a:solidFill>
              </a:rPr>
              <a:t>OLED (I2C): </a:t>
            </a:r>
            <a:r>
              <a:rPr sz="1400"/>
              <a:t>shows the car’s IP address and status after boot. Use it to find the car on the network.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7030A0"/>
                </a:solidFill>
              </a:rPr>
              <a:t>RGB LED strip: </a:t>
            </a:r>
            <a:r>
              <a:rPr sz="1400"/>
              <a:t>on the expansion board; set from the app or code. Useful as a state indicator.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7030A0"/>
                </a:solidFill>
              </a:rPr>
              <a:t>Buzzer: </a:t>
            </a:r>
            <a:r>
              <a:rPr sz="1400"/>
              <a:t>three beeps = system up; fast beeping = low battery.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7030A0"/>
                </a:solidFill>
              </a:rPr>
              <a:t>Wireless handle: </a:t>
            </a:r>
            <a:r>
              <a:rPr sz="1400"/>
              <a:t>PS2-style gamepad. USB receiver on the Jetson; appears in ROS as /joy.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>
                <a:solidFill>
                  <a:srgbClr val="7030A0"/>
                </a:solidFill>
              </a:rPr>
              <a:t>7-inch screen (optional): </a:t>
            </a:r>
            <a:r>
              <a:rPr sz="1400"/>
              <a:t>HDMI display for the Jetson desktop.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FF0000"/>
                </a:solidFill>
              </a:rPr>
              <a:t>The OLED connector spans six pins but only four are wired. Check the header before powering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 motors, H-bridges and PWM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13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Motor speed follows the average voltage; direction follows its sign.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An </a:t>
            </a:r>
            <a:r>
              <a:rPr sz="1500" b="1"/>
              <a:t>H-bridge</a:t>
            </a:r>
            <a:r>
              <a:rPr sz="1500"/>
              <a:t> has four switches: S1+S4 drive current one way, S2+S3 the other.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 b="1"/>
              <a:t>PWM</a:t>
            </a:r>
            <a:r>
              <a:rPr sz="1500"/>
              <a:t>: instead of an analog voltage, the MCU switches 12 V on and off thousands of times per second.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 b="1"/>
              <a:t>Duty cycle</a:t>
            </a:r>
            <a:r>
              <a:rPr sz="1500"/>
              <a:t> D = fraction of time on. Motor inertia averages the pulses: </a:t>
            </a:r>
            <a:r>
              <a:rPr sz="1500" b="1"/>
              <a:t>V_avg = D × 12 V</a:t>
            </a:r>
            <a:r>
              <a:rPr sz="1500"/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X3 motors: </a:t>
            </a:r>
            <a:r>
              <a:rPr sz="1500" b="1"/>
              <a:t>520 metal gear motor, 1:30 ratio (about 330 rpm), with a Hall encoder, on a 65 mm mecanum wheel</a:t>
            </a:r>
            <a:r>
              <a:rPr sz="1500"/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FF0000"/>
                </a:solidFill>
              </a:rPr>
              <a:t>The same PWM gives different speeds with battery level, load and floor. Hence feedback control.</a:t>
            </a:r>
          </a:p>
        </p:txBody>
      </p:sp>
      <p:pic>
        <p:nvPicPr>
          <p:cNvPr id="7" name="Picture 6" descr="h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670" y="1097280"/>
            <a:ext cx="3713299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3429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H-bridge: four switches around motor M.</a:t>
            </a:r>
          </a:p>
          <a:p>
            <a:pPr>
              <a:spcAft>
                <a:spcPts val="0"/>
              </a:spcAft>
            </a:pPr>
            <a:r>
              <a:rPr sz="1000" b="1"/>
              <a:t>Source: Cyril Buttay, Wikimedia Commons, CC BY-SA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9776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/>
              <a:t>PWM at 25% and 75% duty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4343400"/>
            <a:ext cx="262890" cy="4572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75320" y="4343400"/>
            <a:ext cx="262890" cy="4572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26880" y="4343400"/>
            <a:ext cx="262890" cy="4572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378440" y="4343400"/>
            <a:ext cx="262890" cy="4572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223760" y="4800600"/>
            <a:ext cx="4297680" cy="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0" y="43616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/>
              <a:t>3 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5120640"/>
            <a:ext cx="788669" cy="4572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5120640"/>
            <a:ext cx="788669" cy="4572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5120640"/>
            <a:ext cx="788669" cy="4572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378440" y="5120640"/>
            <a:ext cx="788669" cy="4572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7223760" y="5577840"/>
            <a:ext cx="4297680" cy="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0" y="513892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/>
              <a:t>9 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Encoders: measuring wheel rotation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14</a:t>
            </a:fld>
            <a:r>
              <a:rPr lang="en-US" dirty="0"/>
              <a:t> / 27</a:t>
            </a:r>
          </a:p>
        </p:txBody>
      </p:sp>
      <p:pic>
        <p:nvPicPr>
          <p:cNvPr id="6" name="Picture 5" descr="quad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23368"/>
            <a:ext cx="4846320" cy="16167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3566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Quadrature: A leads B in one direction, lags in the other.</a:t>
            </a:r>
          </a:p>
          <a:p>
            <a:pPr>
              <a:spcAft>
                <a:spcPts val="0"/>
              </a:spcAft>
            </a:pPr>
            <a:r>
              <a:rPr sz="1000" b="1"/>
              <a:t>Source: Sagsaw, Wikimedia Commons, public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05156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A shaft magnet passes two Hall sensors; each pass is a pulse. Pulses per second give speed.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Channels </a:t>
            </a:r>
            <a:r>
              <a:rPr sz="1500" b="1"/>
              <a:t>A and B</a:t>
            </a:r>
            <a:r>
              <a:rPr sz="1500"/>
              <a:t> are 90° apart; which one leads gives the direction.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Counting every edge on both channels gives 4× resolution ("4× decoding").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Counts per wheel turn: </a:t>
            </a:r>
            <a:r>
              <a:rPr sz="1500" b="1"/>
              <a:t>4 × 11 × 30 = 1320 (assumes an 11-line encoder; verify on your motor).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Speed: </a:t>
            </a:r>
            <a:r>
              <a:rPr sz="1500" b="1"/>
              <a:t>ω = 2π · Δcounts / (CPR · Δt)</a:t>
            </a:r>
            <a:r>
              <a:rPr sz="1500"/>
              <a:t>, </a:t>
            </a:r>
            <a:r>
              <a:rPr sz="1500" b="1"/>
              <a:t>v = ω · r</a:t>
            </a:r>
            <a:r>
              <a:rPr sz="1500"/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00B050"/>
                </a:solidFill>
              </a:rPr>
              <a:t>Example: 132 counts in 50 ms = 2 rev/s. With a 65 mm wheel, v ≈ 0.41 m/s.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1605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B050"/>
                </a:solidFill>
              </a:rPr>
              <a:t>Summary: </a:t>
            </a:r>
            <a:r>
              <a:rPr sz="1400"/>
              <a:t>encoders measure the robot’s own motion. They feed the MCU speed loop and the Jetson’s odometry.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0000"/>
                </a:solidFill>
              </a:rPr>
              <a:t>Encoders measure the wheel, not the ground. Slip corrupts them; the IMU helps.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Closed-loop speed control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15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Measure, compare, correct: the MCU adjusts PWM until the measured wheel speed matches the target.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Target speed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from cmd_vel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251460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000000"/>
                </a:solidFill>
              </a:rPr>
              <a:t>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33172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PID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on the MCU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33172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H-bridge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PWM duty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331720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Motor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+ wheel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65760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Encoder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2743200"/>
            <a:ext cx="41148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2743200"/>
            <a:ext cx="502919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86099" y="2340863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/>
              <a:t>error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77840" y="2743200"/>
            <a:ext cx="50292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09560" y="2743200"/>
            <a:ext cx="50292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2743200"/>
            <a:ext cx="64008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829800" y="2340863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/>
              <a:t>speed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3154679"/>
            <a:ext cx="0" cy="841249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909560" y="3995928"/>
            <a:ext cx="123444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017520" y="3995928"/>
            <a:ext cx="306324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17620" y="407822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/>
              <a:t>measured speed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017520" y="2971800"/>
            <a:ext cx="0" cy="1024128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90672" y="29535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/>
              <a:t>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4348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 b="1"/>
              <a:t>P</a:t>
            </a:r>
            <a:r>
              <a:rPr sz="1500"/>
              <a:t> reacts to the current error, </a:t>
            </a:r>
            <a:r>
              <a:rPr sz="1500" b="1"/>
              <a:t>I</a:t>
            </a:r>
            <a:r>
              <a:rPr sz="1500"/>
              <a:t> removes steady error, </a:t>
            </a:r>
            <a:r>
              <a:rPr sz="1500" b="1"/>
              <a:t>D</a:t>
            </a:r>
            <a:r>
              <a:rPr sz="1500"/>
              <a:t> damps overshoot: </a:t>
            </a:r>
            <a:r>
              <a:rPr sz="1500" b="1"/>
              <a:t>u = Kp·e + Ki·∫e dt + Kd·de/dt</a:t>
            </a:r>
            <a:r>
              <a:rPr sz="1500"/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Two loops: a fast inner PID per wheel on the MCU, and your slower outer loop on the Jetson, which publishes /cmd_vel.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FF0000"/>
                </a:solidFill>
              </a:rPr>
              <a:t>Send velocity targets, not raw PWM, unless you are testing motor control.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Mecanum wheels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16</a:t>
            </a:fld>
            <a:r>
              <a:rPr lang="en-US" dirty="0"/>
              <a:t> / 27</a:t>
            </a:r>
          </a:p>
        </p:txBody>
      </p:sp>
      <p:pic>
        <p:nvPicPr>
          <p:cNvPr id="6" name="Picture 5" descr="mecanum_whe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0180"/>
            <a:ext cx="274320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86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Mecanum wheel: free rollers at 45°.</a:t>
            </a:r>
          </a:p>
          <a:p>
            <a:pPr>
              <a:spcAft>
                <a:spcPts val="0"/>
              </a:spcAft>
            </a:pPr>
            <a:r>
              <a:rPr sz="1000" b="1"/>
              <a:t>Source: Stilfehler, Wikimedia Commons, CC BY-SA 4.0</a:t>
            </a:r>
          </a:p>
        </p:txBody>
      </p:sp>
      <p:pic>
        <p:nvPicPr>
          <p:cNvPr id="8" name="Picture 7" descr="mecanum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648920"/>
            <a:ext cx="4206240" cy="2188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66160" y="44348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Wheel directions for each motion.</a:t>
            </a:r>
          </a:p>
          <a:p>
            <a:pPr>
              <a:spcAft>
                <a:spcPts val="0"/>
              </a:spcAft>
            </a:pPr>
            <a:r>
              <a:rPr sz="1000" b="1"/>
              <a:t>Source: Mrmw, Wikimedia Commons, CC0</a:t>
            </a:r>
          </a:p>
        </p:txBody>
      </p:sp>
      <p:pic>
        <p:nvPicPr>
          <p:cNvPr id="10" name="Picture 9" descr="motor_lay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98232"/>
            <a:ext cx="3474720" cy="24395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X3 motor numbering (top view, front up).</a:t>
            </a:r>
          </a:p>
          <a:p>
            <a:pPr>
              <a:spcAft>
                <a:spcPts val="0"/>
              </a:spcAft>
            </a:pPr>
            <a:r>
              <a:rPr sz="1000" b="1"/>
              <a:t>Source: Yahboom, ROSMASTER X1/X3 manual, wiring diagram inset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983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Each wheel pushes along one diagonal; its rollers spin freely in the other direction.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The four pushes add: all forward → forward; left and right sides opposite → spin; diagonal pairs opposite → sideways.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Mecanum kinematics: (vx, vy, ωz) to wheel speeds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17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Each wheel speed = forward term + sideways term + rotation term.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1168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/>
              <a:t>L</a:t>
            </a:r>
            <a:r>
              <a:rPr sz="1400"/>
              <a:t> = half wheelbase, </a:t>
            </a:r>
            <a:r>
              <a:rPr sz="1400" b="1"/>
              <a:t>W</a:t>
            </a:r>
            <a:r>
              <a:rPr sz="1400"/>
              <a:t> = half track, </a:t>
            </a:r>
            <a:r>
              <a:rPr sz="1400" b="1"/>
              <a:t>r</a:t>
            </a:r>
            <a:r>
              <a:rPr sz="1400"/>
              <a:t> = wheel radius; x forward, y left:</a:t>
            </a:r>
          </a:p>
          <a:p>
            <a:pPr>
              <a:spcAft>
                <a:spcPts val="500"/>
              </a:spcAft>
            </a:pPr>
            <a:r>
              <a:rPr sz="1400" b="1">
                <a:latin typeface="Courier New"/>
              </a:rPr>
              <a:t>v_FL = vx − vy − (L+W)·ωz   (M4)</a:t>
            </a:r>
          </a:p>
          <a:p>
            <a:pPr>
              <a:spcAft>
                <a:spcPts val="500"/>
              </a:spcAft>
            </a:pPr>
            <a:r>
              <a:rPr sz="1400" b="1">
                <a:latin typeface="Courier New"/>
              </a:rPr>
              <a:t>v_FR = vx + vy + (L+W)·ωz   (M2)</a:t>
            </a:r>
          </a:p>
          <a:p>
            <a:pPr>
              <a:spcAft>
                <a:spcPts val="500"/>
              </a:spcAft>
            </a:pPr>
            <a:r>
              <a:rPr sz="1400" b="1">
                <a:latin typeface="Courier New"/>
              </a:rPr>
              <a:t>v_RL = vx + vy − (L+W)·ωz   (M3)</a:t>
            </a:r>
          </a:p>
          <a:p>
            <a:pPr>
              <a:spcAft>
                <a:spcPts val="500"/>
              </a:spcAft>
            </a:pPr>
            <a:r>
              <a:rPr sz="1400" b="1">
                <a:latin typeface="Courier New"/>
              </a:rPr>
              <a:t>v_RR = vx − vy + (L+W)·ωz   (M1)</a:t>
            </a:r>
          </a:p>
          <a:p>
            <a:pPr>
              <a:spcAft>
                <a:spcPts val="500"/>
              </a:spcAft>
            </a:pPr>
            <a:r>
              <a:rPr sz="1400"/>
              <a:t>X3: L + W ≈ 0.18 m, r = 0.0325 m. Wheel rate = v / r. </a:t>
            </a:r>
            <a:r>
              <a:rPr sz="1400" b="1">
                <a:latin typeface="Courier New"/>
              </a:rPr>
              <a:t>set_car_motion(vx, vy, vz)</a:t>
            </a:r>
            <a:r>
              <a:rPr sz="1400"/>
              <a:t> does this on the MCU.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143000"/>
          <a:ext cx="4663440" cy="19202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Motion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M4 FL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M2 FR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M3 RL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M1 RR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Forward (vx &gt; 0)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Slide left (vy &gt; 0)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−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−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Spin left (ωz &gt; 0)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−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−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Diagonal front-left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0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+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0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0" y="3154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Sign of wheel speed; + = rolls forward.</a:t>
            </a:r>
          </a:p>
          <a:p>
            <a:pPr>
              <a:spcAft>
                <a:spcPts val="0"/>
              </a:spcAft>
            </a:pPr>
            <a:r>
              <a:rPr sz="1000" b="1"/>
              <a:t>Derived from the equations (X roller pattern, top view).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3434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Inverse (odometry): </a:t>
            </a:r>
            <a:r>
              <a:rPr sz="1500" b="1">
                <a:latin typeface="Courier New"/>
              </a:rPr>
              <a:t>vx = r(ωFL+ωFR+ωRL+ωRR)/4</a:t>
            </a:r>
            <a:r>
              <a:rPr sz="1500"/>
              <a:t>, integrated by the driver.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FF0000"/>
                </a:solidFill>
              </a:rPr>
              <a:t>Four wheels, three unknowns: when they disagree, a wheel is slipping. Mecanum odometry drifts faster than differential drive.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00B050"/>
                </a:solidFill>
              </a:rPr>
              <a:t>Test vx, vy and ωz one at a time with the wheels lifted; compare to the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Host–MCU link: serial and Rosmaster_Lib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18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The Jetson and the MCU exchange small binary packets over USB serial.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Port: </a:t>
            </a:r>
            <a:r>
              <a:rPr sz="1500" b="1">
                <a:latin typeface="Courier New"/>
              </a:rPr>
              <a:t>/dev/myserial</a:t>
            </a:r>
            <a:r>
              <a:rPr sz="1500"/>
              <a:t>, </a:t>
            </a:r>
            <a:r>
              <a:rPr sz="1500" b="1"/>
              <a:t>115200 baud</a:t>
            </a:r>
            <a:r>
              <a:rPr sz="1500"/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Jetson → MCU: 0xFF 0xFC, length, function, data, checksum. MCU → Jetson: 0xFF 0xFB.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Python wrapper: </a:t>
            </a:r>
            <a:r>
              <a:rPr sz="1500" b="1">
                <a:latin typeface="Courier New"/>
              </a:rPr>
              <a:t>Rosmaster_Lib</a:t>
            </a:r>
            <a:r>
              <a:rPr sz="1500"/>
              <a:t>, class </a:t>
            </a:r>
            <a:r>
              <a:rPr sz="1500" b="1">
                <a:latin typeface="Courier New"/>
              </a:rPr>
              <a:t>Rosmaster</a:t>
            </a:r>
            <a:r>
              <a:rPr sz="1500"/>
              <a:t>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A background thread reads MCU reports; getters return the latest values.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FF0000"/>
                </a:solidFill>
              </a:rPr>
              <a:t>One program per serial port. Stop the ROS driver before running a Rosmaster_Lib script.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051560"/>
            <a:ext cx="5257800" cy="342900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54864" bIns="27432" rtlCol="0" anchor="t"/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from Rosmaster_Lib import Rosmaster</a:t>
            </a: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import time</a:t>
            </a:r>
          </a:p>
          <a:p>
            <a:pPr algn="l"/>
            <a:endParaRPr sz="1100">
              <a:solidFill>
                <a:srgbClr val="000000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bot = Rosmaster(car_type=1,          # 1 = X3</a:t>
            </a: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               com="/dev/myserial")</a:t>
            </a: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bot.create_receive_threading()     # start reader</a:t>
            </a:r>
          </a:p>
          <a:p>
            <a:pPr algn="l"/>
            <a:endParaRPr sz="1100">
              <a:solidFill>
                <a:srgbClr val="000000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bot.set_beep(100)                  # beep 100 ms</a:t>
            </a: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bot.set_colorful_lamps(0xFF, 0, 255, 0)  # all green</a:t>
            </a:r>
          </a:p>
          <a:p>
            <a:pPr algn="l"/>
            <a:endParaRPr sz="1100">
              <a:solidFill>
                <a:srgbClr val="000000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bot.set_car_motion(0.2, 0, 0)      # vx=0.2 m/s</a:t>
            </a: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time.sleep(1.0)</a:t>
            </a: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bot.set_car_motion(0, 0, 0)        # stop</a:t>
            </a:r>
          </a:p>
          <a:p>
            <a:pPr algn="l"/>
            <a:endParaRPr sz="1100">
              <a:solidFill>
                <a:srgbClr val="000000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print(bot.get_motor_encoder())     # 4 counts</a:t>
            </a: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print(bot.get_imu_attitude_data()) # roll,pitch,yaw</a:t>
            </a:r>
          </a:p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print(bot.get_battery_voltage())   # volts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45720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/>
              <a:t>Source: Yahboom ROSMASTER X3 tutorials (github.com/YahboomTechnology/ROSMASTERX3); Rosmaster_Lib V3.3.9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ROS on the X3: nodes and topics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19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Only the driver node talks to the hardware. Everything else uses topics.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joystick / keyboard teleop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your planner / navigation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560320"/>
            <a:ext cx="1371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/cmd_vel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33172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Driver node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Courier New"/>
              </a:rPr>
              <a:t>Mcnamu_driver_X3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514600"/>
            <a:ext cx="146304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MCU via serial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395728"/>
            <a:ext cx="594360" cy="393192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560320" y="3017520"/>
            <a:ext cx="594360" cy="384048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880360"/>
            <a:ext cx="59436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2880360"/>
            <a:ext cx="685800" cy="0"/>
          </a:xfrm>
          <a:prstGeom prst="line">
            <a:avLst/>
          </a:prstGeom>
          <a:ln w="25400">
            <a:solidFill>
              <a:srgbClr val="40404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846320" y="3840480"/>
            <a:ext cx="19202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/vel_raw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4048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/>
              <a:t>measured robot velocity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4297680"/>
            <a:ext cx="19202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/imu/data_raw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29768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/>
              <a:t>accel + gyro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754880"/>
            <a:ext cx="19202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/imu/mag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75488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/>
              <a:t>magnetometer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5212080"/>
            <a:ext cx="19202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/voltage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21208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/>
              <a:t>battery voltage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06440" y="3429000"/>
            <a:ext cx="0" cy="41148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66960" y="2057400"/>
            <a:ext cx="1645920" cy="594360"/>
          </a:xfrm>
          <a:prstGeom prst="roundRect">
            <a:avLst>
              <a:gd name="adj" fmla="val 12000"/>
            </a:avLst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lidar node → /scan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2788920"/>
            <a:ext cx="1645920" cy="594360"/>
          </a:xfrm>
          <a:prstGeom prst="roundRect">
            <a:avLst>
              <a:gd name="adj" fmla="val 12000"/>
            </a:avLst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camera node → images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3520440"/>
            <a:ext cx="1645920" cy="868680"/>
          </a:xfrm>
          <a:prstGeom prst="roundRect">
            <a:avLst>
              <a:gd name="adj" fmla="val 12000"/>
            </a:avLst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SLAM, EKF, nav use these topics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93192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300"/>
              <a:t>Jetson Nano image: ROS 1 Melodic native, ROS 2 Foxy in Docker. Driver: </a:t>
            </a:r>
            <a:r>
              <a:rPr sz="1300" b="1">
                <a:latin typeface="Courier New"/>
              </a:rPr>
              <a:t>ros2 run yahboomcar_bringup Mcnamu_driver_X3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300"/>
              <a:t>Useful: </a:t>
            </a:r>
            <a:r>
              <a:rPr sz="1300" b="1">
                <a:latin typeface="Courier New"/>
              </a:rPr>
              <a:t>ros2 topic list</a:t>
            </a:r>
            <a:r>
              <a:rPr sz="1300"/>
              <a:t>, </a:t>
            </a:r>
            <a:r>
              <a:rPr sz="1300" b="1">
                <a:latin typeface="Courier New"/>
              </a:rPr>
              <a:t>ros2 topic echo /vel_raw</a:t>
            </a:r>
            <a:r>
              <a:rPr sz="1300"/>
              <a:t>, </a:t>
            </a:r>
            <a:r>
              <a:rPr sz="1300" b="1">
                <a:latin typeface="Courier New"/>
              </a:rPr>
              <a:t>rqt_graph</a:t>
            </a:r>
            <a:r>
              <a:rPr sz="1300"/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/>
              <a:t>Source: Yahboom ROSMASTER X3 ROS 2 tutorial, "Bot information release" (github.com/YahboomTechnology/ROSMASTERX3)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X3 as a cyber-physical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20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972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7030A0"/>
                </a:solidFill>
              </a:rPr>
              <a:t>A CPS is software in a feedback loop with a physical process: outputs change the physics, and the physics changes the next inputs.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The physics does not wait. </a:t>
            </a:r>
            <a:r>
              <a:rPr sz="1500" b="1"/>
              <a:t>Timing is part of correctness</a:t>
            </a:r>
            <a:r>
              <a:rPr sz="1500"/>
              <a:t>: a late answer is a wrong answer.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/>
              <a:t>Three questions for every CPS: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 b="1"/>
              <a:t>1. What is the model of the physics?</a:t>
            </a:r>
            <a:r>
              <a:rPr sz="1500"/>
              <a:t> (slides 21–23)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 b="1"/>
              <a:t>2. When does each computation run, and for how long?</a:t>
            </a:r>
            <a:r>
              <a:rPr sz="1500"/>
              <a:t> (slides 24–25)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 b="1"/>
              <a:t>3. What happens when a sensor is wrong or a message is late?</a:t>
            </a:r>
            <a:r>
              <a:rPr sz="1500"/>
              <a:t> (slides 26–27)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500">
                <a:solidFill>
                  <a:srgbClr val="FF0000"/>
                </a:solidFill>
              </a:rPr>
              <a:t>Most robot bugs live between the boxes: late samples, lost messages, drifting sensors.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1887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0B050"/>
                </a:solidFill>
              </a:rPr>
              <a:t>Computation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MCU loop + Jetson / 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7889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Sensors</a:t>
            </a:r>
          </a:p>
          <a:p>
            <a:pPr algn="ctr"/>
            <a:r>
              <a:rPr sz="1100">
                <a:solidFill>
                  <a:srgbClr val="000000"/>
                </a:solidFill>
              </a:rPr>
              <a:t>encoders, IMU, lidar, camera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27889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Actuators</a:t>
            </a:r>
          </a:p>
          <a:p>
            <a:pPr algn="ctr"/>
            <a:r>
              <a:rPr sz="1100">
                <a:solidFill>
                  <a:srgbClr val="000000"/>
                </a:solidFill>
              </a:rPr>
              <a:t>H-bridges, PWM, motors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3891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0000"/>
                </a:solidFill>
              </a:rPr>
              <a:t>Physical process</a:t>
            </a:r>
          </a:p>
          <a:p>
            <a:pPr algn="ctr"/>
            <a:r>
              <a:rPr sz="1100">
                <a:solidFill>
                  <a:srgbClr val="000000"/>
                </a:solidFill>
              </a:rPr>
              <a:t>car body, wheels, floor, battery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315200" y="1783080"/>
            <a:ext cx="228600" cy="100584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95559" y="1783080"/>
            <a:ext cx="365761" cy="100584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332720" y="2048255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/>
              <a:t>commands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0195559" y="3703320"/>
            <a:ext cx="365761" cy="114300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332719" y="4219955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/>
              <a:t>forces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315200" y="3703320"/>
            <a:ext cx="228600" cy="114300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60820" y="4219955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/>
              <a:t>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/>
              <a:t>measurements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514600"/>
            <a:ext cx="15544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Network: Wi-Fi, ROS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869680" y="2103120"/>
            <a:ext cx="0" cy="411480"/>
          </a:xfrm>
          <a:prstGeom prst="line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5623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/>
              <a:t>Definition after E. A. Lee and S. A. Seshia, "Introduction to Embedded Systems: A Cyber-Physical Systems Approach", 2nd ed., MIT Press, 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B050"/>
                </a:solidFill>
              </a:rPr>
              <a:t>Try it on the car: </a:t>
            </a:r>
            <a:r>
              <a:rPr sz="1400">
                <a:solidFill>
                  <a:srgbClr val="00B050"/>
                </a:solidFill>
              </a:rPr>
              <a:t>lift the car, turn a wheel by hand and watch /vel_raw.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physics, discrete computation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21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7030A0"/>
                </a:solidFill>
              </a:rPr>
              <a:t>The computer samples the wheel every Δt and holds its output until the next sample (zero-order hold).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Rule of thumb: sample 10–20× faster than the dynamics you control. Motor τ ≈ 100 ms → 5–10 ms loop.</a:t>
            </a:r>
          </a:p>
        </p:txBody>
      </p:sp>
      <p:pic>
        <p:nvPicPr>
          <p:cNvPr id="7" name="Picture 6" descr="plot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269" y="2240280"/>
            <a:ext cx="8478981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5349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(a) Wheel speed sampled at 10 ms vs 100 ms. (b) A 9 Hz vibration sampled at 10 Hz appears as 1 Hz.</a:t>
            </a:r>
          </a:p>
          <a:p>
            <a:pPr>
              <a:spcAft>
                <a:spcPts val="0"/>
              </a:spcAft>
            </a:pPr>
            <a:r>
              <a:rPr sz="1000" b="1"/>
              <a:t>Source: simulation made for this lecture (illustrative values, not measured on an X3)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FF0000"/>
                </a:solidFill>
              </a:rPr>
              <a:t>Aliasing cannot be undone after sampling. Filter, then sample.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B050"/>
                </a:solidFill>
              </a:rPr>
              <a:t>Try it on the car: </a:t>
            </a:r>
            <a:r>
              <a:rPr sz="1400">
                <a:solidFill>
                  <a:srgbClr val="00B050"/>
                </a:solidFill>
              </a:rPr>
              <a:t>compute speed from get_motor_encoder() at 10 ms and at 100 ms while driving; compare.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Modelling the motor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22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7030A0"/>
                </a:solidFill>
              </a:rPr>
              <a:t>The wheel approaches a new speed exponentially; it does not jump.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Model: </a:t>
            </a:r>
            <a:r>
              <a:rPr sz="1400" b="1"/>
              <a:t>τ · dω/dt + ω = K · u</a:t>
            </a:r>
            <a:r>
              <a:rPr sz="1400"/>
              <a:t>, with u the PWM duty (%) and ω the wheel speed (rpm).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/>
              <a:t>K</a:t>
            </a:r>
            <a:r>
              <a:rPr sz="1400"/>
              <a:t>: final speed per % PWM. </a:t>
            </a:r>
            <a:r>
              <a:rPr sz="1400" b="1"/>
              <a:t>τ</a:t>
            </a:r>
            <a:r>
              <a:rPr sz="1400"/>
              <a:t>: time to reach 63% of the final speed.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Step response: </a:t>
            </a:r>
            <a:r>
              <a:rPr sz="1400" b="1"/>
              <a:t>ω(t) = K·u·(1 − e^(−t/τ))</a:t>
            </a:r>
            <a:r>
              <a:rPr sz="1400"/>
              <a:t>. K from the final value, τ from the 63% point.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Discrete form: </a:t>
            </a:r>
            <a:r>
              <a:rPr sz="1400" b="1">
                <a:latin typeface="Courier New"/>
              </a:rPr>
              <a:t>w[k+1] = w[k] + (dt/tau)*(K*u[k] - w[k])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Here K = 3.3 rpm/% (≈ 330 rpm at full PWM), τ = 0.1 s (assumed).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FF0000"/>
                </a:solidFill>
              </a:rPr>
              <a:t>Ignores friction (small PWM may not move the wheel). K drops as the battery drains.</a:t>
            </a:r>
          </a:p>
        </p:txBody>
      </p:sp>
      <p:pic>
        <p:nvPicPr>
          <p:cNvPr id="7" name="Picture 6" descr="plot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120640" cy="32003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343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Simulated 10 ms encoder samples after a 50% PWM step, with the fitted model.</a:t>
            </a:r>
          </a:p>
          <a:p>
            <a:pPr>
              <a:spcAft>
                <a:spcPts val="0"/>
              </a:spcAft>
            </a:pPr>
            <a:r>
              <a:rPr sz="1000" b="1"/>
              <a:t>Source: simulation made for this lecture (illustrative values, not measured on an X3)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B050"/>
                </a:solidFill>
              </a:rPr>
              <a:t>Try it on the car: </a:t>
            </a:r>
            <a:r>
              <a:rPr sz="1400">
                <a:solidFill>
                  <a:srgbClr val="00B050"/>
                </a:solidFill>
              </a:rPr>
              <a:t>wheels lifted, set_motor(50, 0, 0, 0), log encoders every 10 ms, fit K and τ per wheel.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PID: saturation and integrator windup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23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7030A0"/>
                </a:solidFill>
              </a:rPr>
              <a:t>The controller output is a PWM duty, capped at 100%.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Discrete PI: </a:t>
            </a:r>
            <a:r>
              <a:rPr sz="1400" b="1">
                <a:latin typeface="Courier New"/>
              </a:rPr>
              <a:t>u[k] = Kp*e[k] + Ki*sum(e)*dt</a:t>
            </a:r>
            <a:r>
              <a:rPr sz="1400"/>
              <a:t>, clipped to ±100%.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Low battery: 300 rpm is unreachable even at 100%. The error persists and the integral grows ("winds up").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When the target drops to 150 rpm, the wound-up integral holds PWM at 100% for about 1 s (red).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/>
              <a:t>Anti-windup</a:t>
            </a:r>
            <a:r>
              <a:rPr sz="1400"/>
              <a:t>: stop integrating while saturated. The wheel tracks the new target at once (green).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Tuning order: P, then I for steady error, then D if it overshoots.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FF0000"/>
                </a:solidFill>
              </a:rPr>
              <a:t>On a mecanum car, one saturated wheel bends the path into a curve.</a:t>
            </a:r>
          </a:p>
        </p:txBody>
      </p:sp>
      <p:pic>
        <p:nvPicPr>
          <p:cNvPr id="7" name="Picture 6" descr="plot_win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02797"/>
            <a:ext cx="5212080" cy="32350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3891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PI loop at 10 ms on the motor model, K at 70% (low battery).</a:t>
            </a:r>
          </a:p>
          <a:p>
            <a:pPr>
              <a:spcAft>
                <a:spcPts val="0"/>
              </a:spcAft>
            </a:pPr>
            <a:r>
              <a:rPr sz="1000" b="1"/>
              <a:t>Source: simulation made for this lecture (illustrative values, not measured on an X3)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B050"/>
                </a:solidFill>
              </a:rPr>
              <a:t>Try it on the car: </a:t>
            </a:r>
            <a:r>
              <a:rPr sz="1400">
                <a:solidFill>
                  <a:srgbClr val="00B050"/>
                </a:solidFill>
              </a:rPr>
              <a:t>wheels lifted, send a large speed step, watch /vel_raw. Record the PID values before changing set_pid_param.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Timing: when computation runs matters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24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7030A0"/>
                </a:solidFill>
              </a:rPr>
              <a:t>Every task has a period, a deadline and a worst-case execution time (WCET). Jitter is the variation in start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116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B050"/>
                </a:solidFill>
              </a:rPr>
              <a:t>MCU: one periodic loop (e.g. every 10 ms)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457200" cy="384048"/>
          </a:xfrm>
          <a:prstGeom prst="rect">
            <a:avLst/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PID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47088" y="2331720"/>
            <a:ext cx="457200" cy="384048"/>
          </a:xfrm>
          <a:prstGeom prst="rect">
            <a:avLst/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PID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1216" y="2331720"/>
            <a:ext cx="457200" cy="384048"/>
          </a:xfrm>
          <a:prstGeom prst="rect">
            <a:avLst/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PID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95344" y="2331720"/>
            <a:ext cx="457200" cy="384048"/>
          </a:xfrm>
          <a:prstGeom prst="rect">
            <a:avLst/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PID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9472" y="2331720"/>
            <a:ext cx="457200" cy="384048"/>
          </a:xfrm>
          <a:prstGeom prst="rect">
            <a:avLst/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PID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788920"/>
            <a:ext cx="5120640" cy="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3017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7030A0"/>
                </a:solidFill>
              </a:rPr>
              <a:t>Jetson: your ROS callback under Linux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37560"/>
            <a:ext cx="457200" cy="384048"/>
          </a:xfrm>
          <a:prstGeom prst="rect">
            <a:avLst/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cb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3337560"/>
            <a:ext cx="457200" cy="384048"/>
          </a:xfrm>
          <a:prstGeom prst="rect">
            <a:avLst/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cb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337560"/>
            <a:ext cx="457200" cy="384048"/>
          </a:xfrm>
          <a:prstGeom prst="rect">
            <a:avLst/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cb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3337560"/>
            <a:ext cx="457200" cy="384048"/>
          </a:xfrm>
          <a:prstGeom prst="rect">
            <a:avLst/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cb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3337560"/>
            <a:ext cx="457200" cy="384048"/>
          </a:xfrm>
          <a:prstGeom prst="rect">
            <a:avLst/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cb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310128"/>
            <a:ext cx="1280160" cy="438912"/>
          </a:xfrm>
          <a:prstGeom prst="rect">
            <a:avLst/>
          </a:prstGeom>
          <a:solidFill>
            <a:srgbClr val="FDECEA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>
                <a:solidFill>
                  <a:srgbClr val="000000"/>
                </a:solidFill>
              </a:rPr>
              <a:t>Linux ran something else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3794760"/>
            <a:ext cx="5120640" cy="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94960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2062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300"/>
              <a:t>The MCU loop starts on time; the Linux callback starts late by a random, sometimes large, amount.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FF0000"/>
                </a:solidFill>
              </a:rPr>
              <a:t>Deadline misses do not show in code review. Measure them.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355080" y="2011680"/>
          <a:ext cx="5257800" cy="296265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 (camera to wheel)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Typical time</a:t>
                      </a:r>
                    </a:p>
                  </a:txBody>
                  <a:tcPr marL="73152" marR="73152" marT="27432" marB="27432" anchor="ctr">
                    <a:solidFill>
                      <a:srgbClr val="7A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/>
                        <a:t>Camera frame at 30 fps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≤ 33 ms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/>
                        <a:t>USB transfer + decode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5–10 ms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/>
                        <a:t>Neural network on the Nano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30–100 ms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/>
                        <a:t>ROS publish → driver node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1–5 ms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/>
                        <a:t>Serial packet, 10 bytes at 115200 baud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≈ 1 ms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/>
                        <a:t>Wait for the next MCU loop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≤ one period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/>
                        <a:t>Motor reaches 63% of new speed (τ)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≈ 100 ms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/>
                        <a:t>Total</a:t>
                      </a:r>
                    </a:p>
                  </a:txBody>
                  <a:tcPr marL="73152" marR="73152" marT="27432" marB="27432" anchor="ctr"/>
                </a:tc>
                <a:tc>
                  <a:txBody>
                    <a:bodyPr/>
                    <a:lstStyle/>
                    <a:p>
                      <a:r>
                        <a:rPr sz="1200" b="1"/>
                        <a:t>≈ 0.2–0.25 s</a:t>
                      </a:r>
                    </a:p>
                  </a:txBody>
                  <a:tcPr marL="73152" marR="73152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355080" y="5029200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Order of magnitude; only the serial time is computed. At 0.5 m/s the car travels about 10 cm before reacting.</a:t>
            </a:r>
          </a:p>
          <a:p>
            <a:pPr>
              <a:spcAft>
                <a:spcPts val="0"/>
              </a:spcAft>
            </a:pPr>
            <a:r>
              <a:rPr sz="1000" b="1"/>
              <a:t>Measure your own pipeline.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B050"/>
                </a:solidFill>
              </a:rPr>
              <a:t>Try it on the car: </a:t>
            </a:r>
            <a:r>
              <a:rPr sz="1400">
                <a:solidFill>
                  <a:srgbClr val="00B050"/>
                </a:solidFill>
              </a:rPr>
              <a:t>log time.time() in your callback and plot the intervals, with and without RViz running.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Communication: publish/subscribe and stale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25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5760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7030A0"/>
                </a:solidFill>
              </a:rPr>
              <a:t>ROS nodes never wait for each other. Neither the delivery time nor the delivery itself is guaranteed.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Topics run at different rates (/scan ≈ 10 Hz, camera 30 Hz). Combining them needs a freshness rule.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Fuse using the </a:t>
            </a:r>
            <a:r>
              <a:rPr sz="1400" b="1"/>
              <a:t>header timestamp</a:t>
            </a:r>
            <a:r>
              <a:rPr sz="1400"/>
              <a:t>, not the arrival time.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ROS 2 QoS settings (reliable / best-effort, queue depth) must be compatible, or no messages arrive.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FF0000"/>
                </a:solidFill>
              </a:rPr>
              <a:t>If teleop stops (laptop sleeps, Wi-Fi drops), the last /cmd_vel may persist. Check your driver; if needed, add a timeout that sends zero velocity.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/>
              <a:t>/cmd_vel arriving at the driver node (10 Hz)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1508760"/>
            <a:ext cx="1600200" cy="1691640"/>
          </a:xfrm>
          <a:prstGeom prst="rect">
            <a:avLst/>
          </a:prstGeom>
          <a:solidFill>
            <a:srgbClr val="FDECEA"/>
          </a:solidFill>
          <a:ln w="19050">
            <a:solidFill>
              <a:srgbClr val="FD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>
                <a:solidFill>
                  <a:srgbClr val="FF0000"/>
                </a:solidFill>
              </a:rPr>
              <a:t>Wi-Fi drop: no messages</a:t>
            </a:r>
          </a:p>
        </p:txBody>
      </p:sp>
      <p:sp>
        <p:nvSpPr>
          <p:cNvPr id="10" name="Oval 9"/>
          <p:cNvSpPr/>
          <p:nvPr/>
        </p:nvSpPr>
        <p:spPr>
          <a:xfrm>
            <a:off x="6629400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3428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77456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01484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525511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49540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73567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97596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21624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13847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37876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61904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885932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109959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333988" y="2651760"/>
            <a:ext cx="91440" cy="9144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6583680" y="2926080"/>
            <a:ext cx="4937760" cy="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72800" y="2971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11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/>
              <a:t>Wheel speed the driver commands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0" y="4937760"/>
            <a:ext cx="4937760" cy="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75120" y="4206240"/>
            <a:ext cx="4754880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75120" y="4251960"/>
            <a:ext cx="2331720" cy="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06840" y="4251960"/>
            <a:ext cx="0" cy="64008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06840" y="4892040"/>
            <a:ext cx="2423160" cy="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0" y="3931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FF0000"/>
                </a:solidFill>
              </a:rPr>
              <a:t>no timeout: keeps driving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0B050"/>
                </a:solidFill>
              </a:rPr>
              <a:t>0.5 s timeout: stops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Schematic, not measured.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806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B050"/>
                </a:solidFill>
              </a:rPr>
              <a:t>Try it on the car: </a:t>
            </a:r>
            <a:r>
              <a:rPr sz="1400">
                <a:solidFill>
                  <a:srgbClr val="00B050"/>
                </a:solidFill>
              </a:rPr>
              <a:t>ros2 topic hz /scan and /cmd_vel; then, wheels lifted, turn off your laptop’s Wi-Fi while driving.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Modes: the robot as a hybrid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26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7030A0"/>
                </a:solidFill>
              </a:rPr>
              <a:t>Continuous dynamics within each mode, discrete jumps between modes. Each mode has its own controller and an invariant that must 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Idle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v =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116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EDE4F5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7030A0"/>
                </a:solidFill>
              </a:rPr>
              <a:t>Teleop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|v| ≤ 0.5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0116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6F6EC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0B050"/>
                </a:solidFill>
              </a:rPr>
              <a:t>Autonomous</a:t>
            </a:r>
          </a:p>
          <a:p>
            <a:pPr algn="ctr"/>
            <a:r>
              <a:rPr sz="1100">
                <a:solidFill>
                  <a:srgbClr val="000000"/>
                </a:solidFill>
              </a:rPr>
              <a:t>|v| ≤ 0.3 m/s, d_min &gt; 0.25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0233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0000"/>
                </a:solidFill>
              </a:rPr>
              <a:t>Protective stop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v = 0, buzzer 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40233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0000"/>
                </a:solidFill>
              </a:rPr>
              <a:t>Low battery</a:t>
            </a:r>
          </a:p>
          <a:p>
            <a:pPr algn="ctr"/>
            <a:r>
              <a:rPr sz="1200">
                <a:solidFill>
                  <a:srgbClr val="000000"/>
                </a:solidFill>
              </a:rPr>
              <a:t>v = 0, beeping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377440" y="2468880"/>
            <a:ext cx="914400" cy="27432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03120" y="223113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/>
              <a:t>START button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2331720"/>
            <a:ext cx="128016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20640" y="195681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/>
              <a:t>button A, map loaded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394960" y="2697480"/>
            <a:ext cx="1280160" cy="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0" y="2752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/>
              <a:t>any joystick input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43400" y="2926080"/>
            <a:ext cx="960120" cy="109728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97580" y="332841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/>
              <a:t>d_min &lt; 0.25 m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583680" y="2926080"/>
            <a:ext cx="1097280" cy="109728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78040" y="332841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/>
              <a:t>d_min &lt; 0.25 m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1508760" y="3429000"/>
            <a:ext cx="3337560" cy="1051560"/>
          </a:xfrm>
          <a:prstGeom prst="line">
            <a:avLst/>
          </a:prstGeom>
          <a:ln w="2540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80259" y="412851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/>
              <a:t>cleared + button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52560" y="2743200"/>
            <a:ext cx="1463040" cy="1280160"/>
          </a:xfrm>
          <a:prstGeom prst="line">
            <a:avLst/>
          </a:prstGeom>
          <a:ln w="254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875519" y="30540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/>
              <a:t>V &lt; 9.6 V (from any mode)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1206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F0000"/>
                </a:solidFill>
              </a:rPr>
              <a:t>Guards are checked at discrete times: checking d_min every 100 ms at 0.5 m/s allows a 5 cm overrun. Size margins from timing.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B050"/>
                </a:solidFill>
              </a:rPr>
              <a:t>Try it on the car: </a:t>
            </a:r>
            <a:r>
              <a:rPr sz="1400">
                <a:solidFill>
                  <a:srgbClr val="00B050"/>
                </a:solidFill>
              </a:rPr>
              <a:t>draw your project’s mode diagram before coding; each mode becomes a state in your node.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Sensing under uncertainty: gyro + compass fusion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2FB60-5D4C-5255-B19C-7F776D8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Nguyen Nguyen, Boston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7405-1DBD-AF45-CB90-64E8FAB7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4C578-5110-462E-BC1C-EB383D80AF08}" type="slidenum">
              <a:rPr lang="en-US" smtClean="0"/>
              <a:pPr>
                <a:defRPr/>
              </a:pPr>
              <a:t>27</a:t>
            </a:fld>
            <a:r>
              <a:rPr lang="en-US" dirty="0"/>
              <a:t>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515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7030A0"/>
                </a:solidFill>
              </a:rPr>
              <a:t>Every sensor errs differently, so combine sensors with different errors.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/>
              <a:t>Noise</a:t>
            </a:r>
            <a:r>
              <a:rPr sz="1400"/>
              <a:t>: random. </a:t>
            </a:r>
            <a:r>
              <a:rPr sz="1400" b="1"/>
              <a:t>Bias</a:t>
            </a:r>
            <a:r>
              <a:rPr sz="1400"/>
              <a:t>: constant offset. </a:t>
            </a:r>
            <a:r>
              <a:rPr sz="1400" b="1"/>
              <a:t>Drift</a:t>
            </a:r>
            <a:r>
              <a:rPr sz="1400"/>
              <a:t>: bias integrated over time.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/>
              <a:t>Gyro</a:t>
            </a:r>
            <a:r>
              <a:rPr sz="1400"/>
              <a:t>: fast and smooth, but drifts (0.8°/s → 24° in 30 s).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/>
              <a:t>Magnetometer</a:t>
            </a:r>
            <a:r>
              <a:rPr sz="1400"/>
              <a:t>: absolute but noisy; disturbed by motors and steel.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 b="1"/>
              <a:t>Wheel odometry</a:t>
            </a:r>
            <a:r>
              <a:rPr sz="1400"/>
              <a:t>: accurate until the rollers slip.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Complementary filter: </a:t>
            </a:r>
            <a:r>
              <a:rPr sz="1400" b="1">
                <a:latin typeface="Courier New"/>
              </a:rPr>
              <a:t>th = a*(th + gyro*dt) + (1-a)*mag</a:t>
            </a:r>
            <a:r>
              <a:rPr sz="1400"/>
              <a:t>. Gyro for fast changes, compass for the long term.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400"/>
              <a:t>A Kalman filter sets the weighting from the noise statistics at each step (e.g. the robot_localization EKF).</a:t>
            </a:r>
          </a:p>
        </p:txBody>
      </p:sp>
      <p:pic>
        <p:nvPicPr>
          <p:cNvPr id="7" name="Picture 6" descr="plot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02797"/>
            <a:ext cx="5212080" cy="32350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3891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/>
              <a:t>Gyro bias 0.8°/s and compass noise 8°, three 80° turns.</a:t>
            </a:r>
          </a:p>
          <a:p>
            <a:pPr>
              <a:spcAft>
                <a:spcPts val="0"/>
              </a:spcAft>
            </a:pPr>
            <a:r>
              <a:rPr sz="1000" b="1"/>
              <a:t>Source: simulation made for this lecture (illustrative values, not measured on an X3)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B050"/>
                </a:solidFill>
              </a:rPr>
              <a:t>Try it on the car: </a:t>
            </a:r>
            <a:r>
              <a:rPr sz="1400">
                <a:solidFill>
                  <a:srgbClr val="00B050"/>
                </a:solidFill>
              </a:rPr>
              <a:t>leave the car still for 60 s, record /imu/data_raw and average the gyro z-rate. That is the bias.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218DDA6-625E-7045-9EC0-1DE568F62005}" vid="{DA99BD0D-550B-1D40-973F-64CE502E8A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1050</TotalTime>
  <Words>4983</Words>
  <Application>Microsoft Macintosh PowerPoint</Application>
  <PresentationFormat>Widescreen</PresentationFormat>
  <Paragraphs>524</Paragraphs>
  <Slides>27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Inside the ROSMASTER X3: Boards, Wiring and Basic Control</vt:lpstr>
      <vt:lpstr>What is the ROSMASTER X3?</vt:lpstr>
      <vt:lpstr>Key terms</vt:lpstr>
      <vt:lpstr>System overview: two processors</vt:lpstr>
      <vt:lpstr>Wiring diagram (Jetson Nano 4GB version)</vt:lpstr>
      <vt:lpstr>Power distribution</vt:lpstr>
      <vt:lpstr>Expansion board: front side</vt:lpstr>
      <vt:lpstr>Expansion board: the MCU (back side)</vt:lpstr>
      <vt:lpstr>USB hub board and voice module</vt:lpstr>
      <vt:lpstr>Main controller: Jetson Nano 4GB</vt:lpstr>
      <vt:lpstr>Sensors</vt:lpstr>
      <vt:lpstr>Peripherals: OLED, LED strip, buzzer, gamepad, screen</vt:lpstr>
      <vt:lpstr>DC motors, H-bridges and PWM</vt:lpstr>
      <vt:lpstr>Encoders: measuring wheel rotation</vt:lpstr>
      <vt:lpstr>Closed-loop speed control</vt:lpstr>
      <vt:lpstr>Mecanum wheels</vt:lpstr>
      <vt:lpstr>Mecanum kinematics: (vx, vy, ωz) to wheel speeds</vt:lpstr>
      <vt:lpstr>Host–MCU link: serial and Rosmaster_Lib</vt:lpstr>
      <vt:lpstr>ROS on the X3: nodes and topics</vt:lpstr>
      <vt:lpstr>The X3 as a cyber-physical system</vt:lpstr>
      <vt:lpstr>Continuous physics, discrete computation</vt:lpstr>
      <vt:lpstr>Modelling the motor</vt:lpstr>
      <vt:lpstr>PID: saturation and integrator windup</vt:lpstr>
      <vt:lpstr>Timing: when computation runs matters</vt:lpstr>
      <vt:lpstr>Communication: publish/subscribe and stale data</vt:lpstr>
      <vt:lpstr>Modes: the robot as a hybrid system</vt:lpstr>
      <vt:lpstr>Sensing under uncertainty: gyro + compass fusion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imaging </dc:title>
  <dc:creator>Nguyen, Nguyen</dc:creator>
  <cp:lastModifiedBy>Nguyen, Nguyen</cp:lastModifiedBy>
  <cp:revision>23</cp:revision>
  <cp:lastPrinted>2014-04-28T17:06:20Z</cp:lastPrinted>
  <dcterms:created xsi:type="dcterms:W3CDTF">2025-04-13T19:40:54Z</dcterms:created>
  <dcterms:modified xsi:type="dcterms:W3CDTF">2026-10-23T19:23:22Z</dcterms:modified>
</cp:coreProperties>
</file>